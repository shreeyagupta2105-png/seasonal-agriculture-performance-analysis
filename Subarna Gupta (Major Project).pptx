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5033" autoAdjust="0"/>
  </p:normalViewPr>
  <p:slideViewPr>
    <p:cSldViewPr snapToGrid="0">
      <p:cViewPr>
        <p:scale>
          <a:sx n="102" d="100"/>
          <a:sy n="102" d="100"/>
        </p:scale>
        <p:origin x="-216" y="6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9/4/2026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Seasonal__Agriculture__Performance_Analysis.ipynb" TargetMode="External"/><Relationship Id="rId2" Type="http://schemas.openxmlformats.org/officeDocument/2006/relationships/image" Target="../media/image1.jfif"/><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471719" y="4593879"/>
            <a:ext cx="3608174" cy="1015266"/>
          </a:xfrm>
        </p:spPr>
        <p:txBody>
          <a:bodyPr vert="horz" lIns="91440" tIns="45720" rIns="91440" bIns="45720" rtlCol="0" anchor="t">
            <a:normAutofit fontScale="85000" lnSpcReduction="20000"/>
          </a:bodyPr>
          <a:lstStyle/>
          <a:p>
            <a:pPr algn="r"/>
            <a:r>
              <a:rPr lang="en-US" sz="1800" b="0" dirty="0">
                <a:solidFill>
                  <a:schemeClr val="tx1"/>
                </a:solidFill>
                <a:latin typeface="Arial Rounded MT Bold" panose="020F0704030504030204" pitchFamily="34" charset="0"/>
              </a:rPr>
              <a:t>Student name: </a:t>
            </a:r>
            <a:r>
              <a:rPr lang="en-US" sz="2100" b="0" dirty="0">
                <a:solidFill>
                  <a:schemeClr val="accent2">
                    <a:lumMod val="50000"/>
                  </a:schemeClr>
                </a:solidFill>
                <a:latin typeface="Cooper Black" panose="0208090404030B020404" pitchFamily="18" charset="0"/>
              </a:rPr>
              <a:t>Subarna Gupta</a:t>
            </a:r>
          </a:p>
          <a:p>
            <a:pPr algn="r"/>
            <a:r>
              <a:rPr lang="en-US" sz="1800" b="0" dirty="0">
                <a:solidFill>
                  <a:schemeClr val="tx1"/>
                </a:solidFill>
                <a:latin typeface="Arial Rounded MT Bold" panose="020F0704030504030204" pitchFamily="34" charset="0"/>
              </a:rPr>
              <a:t>College name: </a:t>
            </a:r>
            <a:r>
              <a:rPr lang="en-US" sz="2100" b="0" dirty="0">
                <a:solidFill>
                  <a:schemeClr val="accent2">
                    <a:lumMod val="50000"/>
                  </a:schemeClr>
                </a:solidFill>
                <a:latin typeface="Cooper Black" panose="0208090404030B020404" pitchFamily="18" charset="0"/>
              </a:rPr>
              <a:t>Miranda House, </a:t>
            </a:r>
          </a:p>
          <a:p>
            <a:pPr algn="r"/>
            <a:r>
              <a:rPr lang="en-US" sz="2100" b="0" dirty="0">
                <a:solidFill>
                  <a:schemeClr val="accent2">
                    <a:lumMod val="50000"/>
                  </a:schemeClr>
                </a:solidFill>
                <a:latin typeface="Cooper Black" panose="0208090404030B020404" pitchFamily="18" charset="0"/>
              </a:rPr>
              <a:t>University Of Delhi</a:t>
            </a:r>
          </a:p>
          <a:p>
            <a:pPr algn="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625070" y="2794001"/>
            <a:ext cx="7329460" cy="1874144"/>
          </a:xfrm>
        </p:spPr>
        <p:txBody>
          <a:bodyPr>
            <a:normAutofit/>
          </a:bodyPr>
          <a:lstStyle/>
          <a:p>
            <a:r>
              <a:rPr lang="en-GB" dirty="0">
                <a:latin typeface="Arial Rounded MT Bold" panose="020F0704030504030204" pitchFamily="34" charset="0"/>
              </a:rPr>
              <a:t>Project Title –</a:t>
            </a:r>
            <a:br>
              <a:rPr lang="en-GB" sz="3200" dirty="0"/>
            </a:br>
            <a:r>
              <a:rPr lang="en-IN" sz="3600" dirty="0">
                <a:solidFill>
                  <a:schemeClr val="accent3">
                    <a:lumMod val="75000"/>
                  </a:schemeClr>
                </a:solidFill>
                <a:latin typeface="Algerian" panose="04020705040A02060702" pitchFamily="82" charset="0"/>
              </a:rPr>
              <a:t>Seasonal Agriculture Performance Analysis</a:t>
            </a:r>
            <a:endParaRPr lang="en-IN" sz="3200" dirty="0">
              <a:solidFill>
                <a:schemeClr val="accent3">
                  <a:lumMod val="75000"/>
                </a:schemeClr>
              </a:solidFill>
              <a:latin typeface="Algerian" panose="04020705040A02060702" pitchFamily="82" charset="0"/>
            </a:endParaRP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865151" y="5692346"/>
            <a:ext cx="3816104" cy="584775"/>
          </a:xfrm>
          <a:prstGeom prst="rect">
            <a:avLst/>
          </a:prstGeom>
          <a:noFill/>
        </p:spPr>
        <p:txBody>
          <a:bodyPr wrap="square" rtlCol="0">
            <a:spAutoFit/>
          </a:bodyPr>
          <a:lstStyle/>
          <a:p>
            <a:r>
              <a:rPr lang="en-US" sz="1400" b="1" dirty="0">
                <a:latin typeface="Arial Rounded MT Bold" panose="020F0704030504030204" pitchFamily="34" charset="0"/>
              </a:rPr>
              <a:t>AICTE STU ID:</a:t>
            </a:r>
            <a:endParaRPr lang="en-US" sz="1400" b="1" i="1" dirty="0">
              <a:latin typeface="Arial Rounded MT Bold" panose="020F0704030504030204" pitchFamily="34" charset="0"/>
            </a:endParaRPr>
          </a:p>
          <a:p>
            <a:r>
              <a:rPr lang="en-IN" dirty="0">
                <a:solidFill>
                  <a:schemeClr val="accent2">
                    <a:lumMod val="50000"/>
                  </a:schemeClr>
                </a:solidFill>
                <a:latin typeface="Cooper Black" panose="0208090404030B020404" pitchFamily="18" charset="0"/>
              </a:rPr>
              <a:t>STU6a66ec615856b1785130081</a:t>
            </a:r>
            <a:r>
              <a:rPr lang="en-US" b="1" dirty="0"/>
              <a:t> </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93833" y="1875556"/>
            <a:ext cx="6949204" cy="4596364"/>
          </a:xfrm>
        </p:spPr>
        <p:txBody>
          <a:bodyPr vert="horz" lIns="91440" tIns="45720" rIns="91440" bIns="45720" rtlCol="0" anchor="t">
            <a:normAutofit/>
          </a:bodyPr>
          <a:lstStyle/>
          <a:p>
            <a:pPr>
              <a:lnSpc>
                <a:spcPct val="150000"/>
              </a:lnSpc>
            </a:pPr>
            <a:r>
              <a:rPr lang="en-US" dirty="0">
                <a:latin typeface="Baskerville Old Face" panose="02020602080505020303" pitchFamily="18" charset="0"/>
              </a:rPr>
              <a:t>Agricultural performance varies significantly across seasons due to changes in rainfall, temperature, soil conditions, irrigation practices, and resource availability.</a:t>
            </a:r>
          </a:p>
          <a:p>
            <a:pPr>
              <a:lnSpc>
                <a:spcPct val="150000"/>
              </a:lnSpc>
            </a:pPr>
            <a:r>
              <a:rPr lang="en-US" dirty="0">
                <a:latin typeface="Baskerville Old Face" panose="02020602080505020303" pitchFamily="18" charset="0"/>
              </a:rPr>
              <a:t>Understanding these seasonal variations is important for improving productivity, profitability, and resource utilization.</a:t>
            </a:r>
          </a:p>
          <a:p>
            <a:pPr>
              <a:lnSpc>
                <a:spcPct val="150000"/>
              </a:lnSpc>
            </a:pPr>
            <a:r>
              <a:rPr lang="en-US" dirty="0">
                <a:latin typeface="Baskerville Old Face" panose="02020602080505020303" pitchFamily="18" charset="0"/>
              </a:rPr>
              <a:t>The objective of this project is to analyze seasonal agricultural data and identify meaningful patterns, trends, relationships, and differences in agricultural performance.</a:t>
            </a:r>
            <a:endParaRPr lang="en-IN" dirty="0">
              <a:latin typeface="Baskerville Old Face" panose="02020602080505020303" pitchFamily="18" charset="0"/>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93833" y="469525"/>
            <a:ext cx="6995604" cy="790111"/>
          </a:xfrm>
        </p:spPr>
        <p:txBody>
          <a:bodyPr>
            <a:normAutofit fontScale="90000"/>
          </a:bodyPr>
          <a:lstStyle/>
          <a:p>
            <a:r>
              <a:rPr lang="en-US" dirty="0">
                <a:solidFill>
                  <a:schemeClr val="accent2">
                    <a:lumMod val="75000"/>
                  </a:schemeClr>
                </a:solidFill>
                <a:latin typeface="Baskerville Old Face" panose="02020602080505020303" pitchFamily="18" charset="0"/>
              </a:rPr>
              <a:t>PROBLEM  STATEMENT</a:t>
            </a:r>
            <a:endParaRPr lang="en-IN" dirty="0">
              <a:solidFill>
                <a:schemeClr val="accent2">
                  <a:lumMod val="75000"/>
                </a:schemeClr>
              </a:solidFill>
              <a:latin typeface="Baskerville Old Face" panose="02020602080505020303"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sz="4900" dirty="0">
                <a:solidFill>
                  <a:schemeClr val="accent2">
                    <a:lumMod val="75000"/>
                  </a:schemeClr>
                </a:solidFill>
                <a:latin typeface="Baskerville Old Face" panose="02020602080505020303" pitchFamily="18" charset="0"/>
              </a:rPr>
              <a:t>Project Description</a:t>
            </a:r>
            <a:br>
              <a:rPr lang="en-GB" dirty="0"/>
            </a:br>
            <a:br>
              <a:rPr lang="en-GB" dirty="0"/>
            </a:br>
            <a:r>
              <a:rPr lang="en-US" sz="2200" b="0" dirty="0">
                <a:latin typeface="Baskerville Old Face" panose="02020602080505020303" pitchFamily="18" charset="0"/>
              </a:rPr>
              <a:t>This project focuses on analyzing agricultural activities across different seasons using Data Analytics techniques.</a:t>
            </a:r>
            <a:br>
              <a:rPr lang="en-US" sz="2200" b="0" dirty="0">
                <a:latin typeface="Baskerville Old Face" panose="02020602080505020303" pitchFamily="18" charset="0"/>
              </a:rPr>
            </a:br>
            <a:br>
              <a:rPr lang="en-US" sz="2200" b="0" dirty="0">
                <a:latin typeface="Baskerville Old Face" panose="02020602080505020303" pitchFamily="18" charset="0"/>
              </a:rPr>
            </a:br>
            <a:r>
              <a:rPr lang="en-US" sz="2200" b="0" dirty="0">
                <a:latin typeface="Baskerville Old Face" panose="02020602080505020303" pitchFamily="18" charset="0"/>
              </a:rPr>
              <a:t>The dataset contains information related to crops, environmental conditions, irrigation methods, production, costs, revenue, and profitability.</a:t>
            </a:r>
            <a:br>
              <a:rPr lang="en-US" sz="2200" b="0" dirty="0">
                <a:latin typeface="Baskerville Old Face" panose="02020602080505020303" pitchFamily="18" charset="0"/>
              </a:rPr>
            </a:br>
            <a:br>
              <a:rPr lang="en-US" sz="2200" b="0" dirty="0">
                <a:latin typeface="Baskerville Old Face" panose="02020602080505020303" pitchFamily="18" charset="0"/>
              </a:rPr>
            </a:br>
            <a:r>
              <a:rPr lang="en-US" sz="2200" b="0" dirty="0">
                <a:latin typeface="Baskerville Old Face" panose="02020602080505020303" pitchFamily="18" charset="0"/>
              </a:rPr>
              <a:t>The analysis was performed using Python and various data visualization techniques to identify seasonal patterns and generate meaningful insights.</a:t>
            </a:r>
            <a:endParaRPr lang="en-IN" b="0" dirty="0">
              <a:latin typeface="Baskerville Old Face" panose="02020602080505020303" pitchFamily="18" charset="0"/>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latin typeface="Baskerville Old Face" panose="02020602080505020303" pitchFamily="18" charset="0"/>
              </a:rPr>
              <a:t>Farmers</a:t>
            </a:r>
          </a:p>
          <a:p>
            <a:pPr algn="just">
              <a:lnSpc>
                <a:spcPct val="150000"/>
              </a:lnSpc>
            </a:pPr>
            <a:r>
              <a:rPr lang="en-US" sz="3600" dirty="0">
                <a:latin typeface="Baskerville Old Face" panose="02020602080505020303" pitchFamily="18" charset="0"/>
              </a:rPr>
              <a:t>Agricultural Researchers</a:t>
            </a:r>
          </a:p>
          <a:p>
            <a:pPr algn="just">
              <a:lnSpc>
                <a:spcPct val="150000"/>
              </a:lnSpc>
            </a:pPr>
            <a:r>
              <a:rPr lang="en-US" sz="3600" dirty="0">
                <a:latin typeface="Baskerville Old Face" panose="02020602080505020303" pitchFamily="18" charset="0"/>
              </a:rPr>
              <a:t>Agricultural Planners</a:t>
            </a:r>
          </a:p>
          <a:p>
            <a:pPr algn="just">
              <a:lnSpc>
                <a:spcPct val="150000"/>
              </a:lnSpc>
            </a:pPr>
            <a:r>
              <a:rPr lang="en-US" sz="3600" dirty="0">
                <a:latin typeface="Baskerville Old Face" panose="02020602080505020303" pitchFamily="18" charset="0"/>
              </a:rPr>
              <a:t>Government Agencies</a:t>
            </a:r>
          </a:p>
          <a:p>
            <a:pPr algn="just">
              <a:lnSpc>
                <a:spcPct val="150000"/>
              </a:lnSpc>
            </a:pPr>
            <a:r>
              <a:rPr lang="en-US" sz="3600" dirty="0">
                <a:latin typeface="Baskerville Old Face" panose="02020602080505020303" pitchFamily="18" charset="0"/>
              </a:rPr>
              <a:t> Policy Makers</a:t>
            </a:r>
          </a:p>
          <a:p>
            <a:pPr algn="just">
              <a:lnSpc>
                <a:spcPct val="150000"/>
              </a:lnSpc>
            </a:pPr>
            <a:r>
              <a:rPr lang="en-US" sz="3600" dirty="0">
                <a:latin typeface="Baskerville Old Face" panose="02020602080505020303" pitchFamily="18" charset="0"/>
              </a:rPr>
              <a:t>Agricultural Extension Officers</a:t>
            </a:r>
          </a:p>
          <a:p>
            <a:pPr algn="just">
              <a:lnSpc>
                <a:spcPct val="150000"/>
              </a:lnSpc>
            </a:pPr>
            <a:r>
              <a:rPr lang="en-US" sz="3600" dirty="0">
                <a:latin typeface="Baskerville Old Face" panose="02020602080505020303" pitchFamily="18" charset="0"/>
              </a:rPr>
              <a:t>Students and Researchers interested in Agricultural Analytics</a:t>
            </a:r>
            <a:endParaRPr lang="en-IN" sz="3600" dirty="0">
              <a:latin typeface="Baskerville Old Face" panose="02020602080505020303" pitchFamily="18" charset="0"/>
            </a:endParaRP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919322"/>
          </a:xfrm>
        </p:spPr>
        <p:txBody>
          <a:bodyPr>
            <a:normAutofit/>
          </a:bodyPr>
          <a:lstStyle/>
          <a:p>
            <a:r>
              <a:rPr lang="en-US" sz="4000" dirty="0">
                <a:solidFill>
                  <a:schemeClr val="accent2">
                    <a:lumMod val="75000"/>
                  </a:schemeClr>
                </a:solidFill>
                <a:latin typeface="Baskerville Old Face" panose="02020602080505020303" pitchFamily="18" charset="0"/>
              </a:rPr>
              <a:t>WHO ARE THE END USERS?</a:t>
            </a:r>
            <a:endParaRPr lang="en-IN" sz="2800" dirty="0">
              <a:solidFill>
                <a:schemeClr val="accent2">
                  <a:lumMod val="75000"/>
                </a:schemeClr>
              </a:solidFill>
              <a:latin typeface="Baskerville Old Face" panose="02020602080505020303"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3037" y="1315059"/>
            <a:ext cx="7433001" cy="5243448"/>
          </a:xfrm>
        </p:spPr>
        <p:txBody>
          <a:bodyPr>
            <a:normAutofit fontScale="85000" lnSpcReduction="20000"/>
          </a:bodyPr>
          <a:lstStyle/>
          <a:p>
            <a:pPr lvl="1">
              <a:lnSpc>
                <a:spcPct val="150000"/>
              </a:lnSpc>
            </a:pPr>
            <a:r>
              <a:rPr lang="en-IN" sz="2400" b="1" dirty="0">
                <a:latin typeface="Baskerville Old Face" panose="02020602080505020303" pitchFamily="18" charset="0"/>
              </a:rPr>
              <a:t>Programming Language:</a:t>
            </a:r>
          </a:p>
          <a:p>
            <a:pPr marL="457200" lvl="1" indent="0">
              <a:lnSpc>
                <a:spcPct val="150000"/>
              </a:lnSpc>
              <a:buNone/>
            </a:pPr>
            <a:r>
              <a:rPr lang="en-IN" dirty="0">
                <a:latin typeface="Baskerville Old Face" panose="02020602080505020303" pitchFamily="18" charset="0"/>
              </a:rPr>
              <a:t>    </a:t>
            </a:r>
            <a:r>
              <a:rPr lang="en-IN" sz="1900" dirty="0">
                <a:latin typeface="Baskerville Old Face" panose="02020602080505020303" pitchFamily="18" charset="0"/>
              </a:rPr>
              <a:t>Python</a:t>
            </a:r>
          </a:p>
          <a:p>
            <a:pPr lvl="1">
              <a:lnSpc>
                <a:spcPct val="150000"/>
              </a:lnSpc>
            </a:pPr>
            <a:r>
              <a:rPr lang="en-IN" sz="2400" b="1" dirty="0">
                <a:latin typeface="Baskerville Old Face" panose="02020602080505020303" pitchFamily="18" charset="0"/>
              </a:rPr>
              <a:t>Libraries:</a:t>
            </a:r>
          </a:p>
          <a:p>
            <a:pPr marL="457200" lvl="1" indent="0">
              <a:lnSpc>
                <a:spcPct val="150000"/>
              </a:lnSpc>
              <a:buNone/>
            </a:pPr>
            <a:r>
              <a:rPr lang="en-IN" dirty="0">
                <a:latin typeface="Baskerville Old Face" panose="02020602080505020303" pitchFamily="18" charset="0"/>
              </a:rPr>
              <a:t>    </a:t>
            </a:r>
            <a:r>
              <a:rPr lang="en-IN" sz="1900" dirty="0">
                <a:latin typeface="Baskerville Old Face" panose="02020602080505020303" pitchFamily="18" charset="0"/>
              </a:rPr>
              <a:t>Pandas</a:t>
            </a:r>
          </a:p>
          <a:p>
            <a:pPr marL="457200" lvl="1" indent="0">
              <a:lnSpc>
                <a:spcPct val="150000"/>
              </a:lnSpc>
              <a:buNone/>
            </a:pPr>
            <a:r>
              <a:rPr lang="en-IN" sz="1900" dirty="0">
                <a:latin typeface="Baskerville Old Face" panose="02020602080505020303" pitchFamily="18" charset="0"/>
              </a:rPr>
              <a:t>    NumPy</a:t>
            </a:r>
          </a:p>
          <a:p>
            <a:pPr marL="457200" lvl="1" indent="0">
              <a:lnSpc>
                <a:spcPct val="150000"/>
              </a:lnSpc>
              <a:buNone/>
            </a:pPr>
            <a:r>
              <a:rPr lang="en-IN" sz="1900" dirty="0">
                <a:latin typeface="Baskerville Old Face" panose="02020602080505020303" pitchFamily="18" charset="0"/>
              </a:rPr>
              <a:t>    Matplotlib</a:t>
            </a:r>
          </a:p>
          <a:p>
            <a:pPr marL="457200" lvl="1" indent="0">
              <a:lnSpc>
                <a:spcPct val="150000"/>
              </a:lnSpc>
              <a:buNone/>
            </a:pPr>
            <a:r>
              <a:rPr lang="en-IN" sz="1900" dirty="0">
                <a:latin typeface="Baskerville Old Face" panose="02020602080505020303" pitchFamily="18" charset="0"/>
              </a:rPr>
              <a:t>    Seaborn</a:t>
            </a:r>
          </a:p>
          <a:p>
            <a:pPr lvl="1">
              <a:lnSpc>
                <a:spcPct val="150000"/>
              </a:lnSpc>
            </a:pPr>
            <a:r>
              <a:rPr lang="en-IN" sz="2400" b="1" dirty="0">
                <a:latin typeface="Baskerville Old Face" panose="02020602080505020303" pitchFamily="18" charset="0"/>
              </a:rPr>
              <a:t>Platform:</a:t>
            </a:r>
          </a:p>
          <a:p>
            <a:pPr marL="457200" lvl="1" indent="0">
              <a:lnSpc>
                <a:spcPct val="150000"/>
              </a:lnSpc>
              <a:buNone/>
            </a:pPr>
            <a:r>
              <a:rPr lang="en-IN" sz="1900" dirty="0">
                <a:latin typeface="Baskerville Old Face" panose="02020602080505020303" pitchFamily="18" charset="0"/>
              </a:rPr>
              <a:t>    Google </a:t>
            </a:r>
            <a:r>
              <a:rPr lang="en-IN" sz="1900" dirty="0" err="1">
                <a:latin typeface="Baskerville Old Face" panose="02020602080505020303" pitchFamily="18" charset="0"/>
              </a:rPr>
              <a:t>Colab</a:t>
            </a:r>
            <a:endParaRPr lang="en-IN" sz="1900" dirty="0">
              <a:latin typeface="Baskerville Old Face" panose="02020602080505020303" pitchFamily="18" charset="0"/>
            </a:endParaRPr>
          </a:p>
          <a:p>
            <a:pPr lvl="1">
              <a:lnSpc>
                <a:spcPct val="150000"/>
              </a:lnSpc>
            </a:pPr>
            <a:r>
              <a:rPr lang="en-IN" sz="2400" b="1" dirty="0">
                <a:latin typeface="Baskerville Old Face" panose="02020602080505020303" pitchFamily="18" charset="0"/>
              </a:rPr>
              <a:t>Version Control:</a:t>
            </a:r>
          </a:p>
          <a:p>
            <a:pPr marL="457200" lvl="1" indent="0">
              <a:lnSpc>
                <a:spcPct val="150000"/>
              </a:lnSpc>
              <a:buNone/>
            </a:pPr>
            <a:r>
              <a:rPr lang="en-IN" dirty="0">
                <a:latin typeface="Baskerville Old Face" panose="02020602080505020303" pitchFamily="18" charset="0"/>
              </a:rPr>
              <a:t>    </a:t>
            </a:r>
            <a:r>
              <a:rPr lang="en-IN" sz="1900" dirty="0">
                <a:latin typeface="Baskerville Old Face" panose="02020602080505020303" pitchFamily="18" charset="0"/>
              </a:rPr>
              <a:t>GitHub</a:t>
            </a:r>
            <a:endParaRPr lang="en-IN" dirty="0">
              <a:latin typeface="Baskerville Old Face" panose="02020602080505020303"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583037" y="298761"/>
            <a:ext cx="6300574" cy="847817"/>
          </a:xfrm>
        </p:spPr>
        <p:txBody>
          <a:bodyPr>
            <a:noAutofit/>
          </a:bodyPr>
          <a:lstStyle/>
          <a:p>
            <a:r>
              <a:rPr lang="en-US" sz="5400" dirty="0">
                <a:solidFill>
                  <a:schemeClr val="accent2">
                    <a:lumMod val="75000"/>
                  </a:schemeClr>
                </a:solidFill>
                <a:latin typeface="Baskerville Old Face" panose="02020602080505020303"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7">
                                            <p:txEl>
                                              <p:pRg st="9" end="9"/>
                                            </p:txEl>
                                          </p:spTgt>
                                        </p:tgtEl>
                                        <p:attrNameLst>
                                          <p:attrName>style.visibility</p:attrName>
                                        </p:attrNameLst>
                                      </p:cBhvr>
                                      <p:to>
                                        <p:strVal val="visible"/>
                                      </p:to>
                                    </p:set>
                                    <p:animEffect transition="in" filter="fade">
                                      <p:cBhvr>
                                        <p:cTn id="77" dur="1000"/>
                                        <p:tgtEl>
                                          <p:spTgt spid="7">
                                            <p:txEl>
                                              <p:pRg st="9" end="9"/>
                                            </p:txEl>
                                          </p:spTgt>
                                        </p:tgtEl>
                                      </p:cBhvr>
                                    </p:animEffect>
                                    <p:anim calcmode="lin" valueType="num">
                                      <p:cBhvr>
                                        <p:cTn id="78"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7">
                                            <p:txEl>
                                              <p:pRg st="10" end="10"/>
                                            </p:txEl>
                                          </p:spTgt>
                                        </p:tgtEl>
                                        <p:attrNameLst>
                                          <p:attrName>style.visibility</p:attrName>
                                        </p:attrNameLst>
                                      </p:cBhvr>
                                      <p:to>
                                        <p:strVal val="visible"/>
                                      </p:to>
                                    </p:set>
                                    <p:animEffect transition="in" filter="fade">
                                      <p:cBhvr>
                                        <p:cTn id="84" dur="1000"/>
                                        <p:tgtEl>
                                          <p:spTgt spid="7">
                                            <p:txEl>
                                              <p:pRg st="10" end="10"/>
                                            </p:txEl>
                                          </p:spTgt>
                                        </p:tgtEl>
                                      </p:cBhvr>
                                    </p:animEffect>
                                    <p:anim calcmode="lin" valueType="num">
                                      <p:cBhvr>
                                        <p:cTn id="8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16778"/>
            <a:ext cx="3443038" cy="830997"/>
          </a:xfrm>
        </p:spPr>
        <p:txBody>
          <a:bodyPr>
            <a:normAutofit/>
          </a:bodyPr>
          <a:lstStyle/>
          <a:p>
            <a:r>
              <a:rPr lang="en-GB" dirty="0">
                <a:solidFill>
                  <a:schemeClr val="accent2">
                    <a:lumMod val="75000"/>
                  </a:schemeClr>
                </a:solidFill>
                <a:latin typeface="Baskerville Old Face" panose="02020602080505020303"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28DD533-CEDF-C8F1-3BCD-6500F9659581}"/>
              </a:ext>
            </a:extLst>
          </p:cNvPr>
          <p:cNvPicPr>
            <a:picLocks noChangeAspect="1"/>
          </p:cNvPicPr>
          <p:nvPr/>
        </p:nvPicPr>
        <p:blipFill>
          <a:blip r:embed="rId3"/>
          <a:stretch>
            <a:fillRect/>
          </a:stretch>
        </p:blipFill>
        <p:spPr>
          <a:xfrm>
            <a:off x="675957" y="942619"/>
            <a:ext cx="5154392" cy="2592198"/>
          </a:xfrm>
          <a:prstGeom prst="rect">
            <a:avLst/>
          </a:prstGeom>
        </p:spPr>
      </p:pic>
      <p:pic>
        <p:nvPicPr>
          <p:cNvPr id="12" name="Picture 11">
            <a:extLst>
              <a:ext uri="{FF2B5EF4-FFF2-40B4-BE49-F238E27FC236}">
                <a16:creationId xmlns:a16="http://schemas.microsoft.com/office/drawing/2014/main" id="{CBDAEDB2-89C5-8480-8A1F-B4EE6A9B909E}"/>
              </a:ext>
            </a:extLst>
          </p:cNvPr>
          <p:cNvPicPr>
            <a:picLocks noChangeAspect="1"/>
          </p:cNvPicPr>
          <p:nvPr/>
        </p:nvPicPr>
        <p:blipFill>
          <a:blip r:embed="rId4"/>
          <a:stretch>
            <a:fillRect/>
          </a:stretch>
        </p:blipFill>
        <p:spPr>
          <a:xfrm>
            <a:off x="675957" y="3649785"/>
            <a:ext cx="5154392" cy="2739211"/>
          </a:xfrm>
          <a:prstGeom prst="rect">
            <a:avLst/>
          </a:prstGeom>
        </p:spPr>
      </p:pic>
      <p:sp>
        <p:nvSpPr>
          <p:cNvPr id="14" name="TextBox 13">
            <a:extLst>
              <a:ext uri="{FF2B5EF4-FFF2-40B4-BE49-F238E27FC236}">
                <a16:creationId xmlns:a16="http://schemas.microsoft.com/office/drawing/2014/main" id="{881E09DE-7913-0FE6-A523-71855EEB31C5}"/>
              </a:ext>
            </a:extLst>
          </p:cNvPr>
          <p:cNvSpPr txBox="1"/>
          <p:nvPr/>
        </p:nvSpPr>
        <p:spPr>
          <a:xfrm>
            <a:off x="6096000" y="2274201"/>
            <a:ext cx="5640771" cy="3108543"/>
          </a:xfrm>
          <a:prstGeom prst="rect">
            <a:avLst/>
          </a:prstGeom>
          <a:noFill/>
        </p:spPr>
        <p:txBody>
          <a:bodyPr wrap="square">
            <a:spAutoFit/>
          </a:bodyPr>
          <a:lstStyle/>
          <a:p>
            <a:r>
              <a:rPr lang="en-IN" sz="2800" b="1" dirty="0">
                <a:solidFill>
                  <a:schemeClr val="accent2">
                    <a:lumMod val="75000"/>
                  </a:schemeClr>
                </a:solidFill>
                <a:latin typeface="Baskerville Old Face" panose="02020602080505020303" pitchFamily="18" charset="0"/>
              </a:rPr>
              <a:t>Insight-</a:t>
            </a:r>
          </a:p>
          <a:p>
            <a:r>
              <a:rPr lang="en-IN" sz="2400" dirty="0">
                <a:latin typeface="Baskerville Old Face" panose="02020602080505020303" pitchFamily="18" charset="0"/>
              </a:rPr>
              <a:t>The dataset contained 4,000 records and 28 variables covering seasonal, environmental, production, and economic aspects of agriculture. Missing values were identified in Rainfall, Soil Moisture, and Yield columns and were handled appropriately before analysis.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01940" y="16892"/>
            <a:ext cx="2981643" cy="830997"/>
          </a:xfrm>
        </p:spPr>
        <p:txBody>
          <a:bodyPr>
            <a:normAutofit/>
          </a:bodyPr>
          <a:lstStyle/>
          <a:p>
            <a:r>
              <a:rPr lang="en-GB" dirty="0">
                <a:solidFill>
                  <a:schemeClr val="accent2">
                    <a:lumMod val="75000"/>
                  </a:schemeClr>
                </a:solidFill>
                <a:latin typeface="Baskerville Old Face" panose="02020602080505020303" pitchFamily="18" charset="0"/>
              </a:rPr>
              <a:t>RESULTS </a:t>
            </a:r>
            <a:endParaRPr lang="en-IN" dirty="0">
              <a:solidFill>
                <a:schemeClr val="accent2">
                  <a:lumMod val="75000"/>
                </a:schemeClr>
              </a:solidFill>
              <a:latin typeface="Baskerville Old Face" panose="02020602080505020303" pitchFamily="18" charset="0"/>
            </a:endParaRPr>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E8CEB76C-37A2-49B9-91C5-5C84E60B764E}"/>
              </a:ext>
            </a:extLst>
          </p:cNvPr>
          <p:cNvPicPr>
            <a:picLocks noChangeAspect="1"/>
          </p:cNvPicPr>
          <p:nvPr/>
        </p:nvPicPr>
        <p:blipFill>
          <a:blip r:embed="rId3"/>
          <a:stretch>
            <a:fillRect/>
          </a:stretch>
        </p:blipFill>
        <p:spPr>
          <a:xfrm>
            <a:off x="465080" y="990383"/>
            <a:ext cx="3568581" cy="2507741"/>
          </a:xfrm>
          <a:prstGeom prst="rect">
            <a:avLst/>
          </a:prstGeom>
        </p:spPr>
      </p:pic>
      <p:pic>
        <p:nvPicPr>
          <p:cNvPr id="12" name="Picture 11">
            <a:extLst>
              <a:ext uri="{FF2B5EF4-FFF2-40B4-BE49-F238E27FC236}">
                <a16:creationId xmlns:a16="http://schemas.microsoft.com/office/drawing/2014/main" id="{8D528073-455A-44E5-75FB-5D5488D2DA43}"/>
              </a:ext>
            </a:extLst>
          </p:cNvPr>
          <p:cNvPicPr>
            <a:picLocks noChangeAspect="1"/>
          </p:cNvPicPr>
          <p:nvPr/>
        </p:nvPicPr>
        <p:blipFill>
          <a:blip r:embed="rId4"/>
          <a:stretch>
            <a:fillRect/>
          </a:stretch>
        </p:blipFill>
        <p:spPr>
          <a:xfrm>
            <a:off x="3976576" y="960800"/>
            <a:ext cx="3941216" cy="2566908"/>
          </a:xfrm>
          <a:prstGeom prst="rect">
            <a:avLst/>
          </a:prstGeom>
        </p:spPr>
      </p:pic>
      <p:pic>
        <p:nvPicPr>
          <p:cNvPr id="14" name="Picture 13">
            <a:extLst>
              <a:ext uri="{FF2B5EF4-FFF2-40B4-BE49-F238E27FC236}">
                <a16:creationId xmlns:a16="http://schemas.microsoft.com/office/drawing/2014/main" id="{E211A490-BF2F-C193-45A6-7824303DD38F}"/>
              </a:ext>
            </a:extLst>
          </p:cNvPr>
          <p:cNvPicPr>
            <a:picLocks noChangeAspect="1"/>
          </p:cNvPicPr>
          <p:nvPr/>
        </p:nvPicPr>
        <p:blipFill>
          <a:blip r:embed="rId5"/>
          <a:stretch>
            <a:fillRect/>
          </a:stretch>
        </p:blipFill>
        <p:spPr>
          <a:xfrm>
            <a:off x="482818" y="3714464"/>
            <a:ext cx="3493758" cy="2600284"/>
          </a:xfrm>
          <a:prstGeom prst="rect">
            <a:avLst/>
          </a:prstGeom>
        </p:spPr>
      </p:pic>
      <p:pic>
        <p:nvPicPr>
          <p:cNvPr id="16" name="Picture 15">
            <a:extLst>
              <a:ext uri="{FF2B5EF4-FFF2-40B4-BE49-F238E27FC236}">
                <a16:creationId xmlns:a16="http://schemas.microsoft.com/office/drawing/2014/main" id="{39188CCE-AAA7-22EB-E271-6756049D67E7}"/>
              </a:ext>
            </a:extLst>
          </p:cNvPr>
          <p:cNvPicPr>
            <a:picLocks noChangeAspect="1"/>
          </p:cNvPicPr>
          <p:nvPr/>
        </p:nvPicPr>
        <p:blipFill>
          <a:blip r:embed="rId6"/>
          <a:stretch>
            <a:fillRect/>
          </a:stretch>
        </p:blipFill>
        <p:spPr>
          <a:xfrm>
            <a:off x="4033661" y="3687094"/>
            <a:ext cx="3941216" cy="2710530"/>
          </a:xfrm>
          <a:prstGeom prst="rect">
            <a:avLst/>
          </a:prstGeom>
        </p:spPr>
      </p:pic>
      <p:sp>
        <p:nvSpPr>
          <p:cNvPr id="18" name="TextBox 17">
            <a:extLst>
              <a:ext uri="{FF2B5EF4-FFF2-40B4-BE49-F238E27FC236}">
                <a16:creationId xmlns:a16="http://schemas.microsoft.com/office/drawing/2014/main" id="{C1A7AC73-2D5C-CBD4-C298-6DC963662E62}"/>
              </a:ext>
            </a:extLst>
          </p:cNvPr>
          <p:cNvSpPr txBox="1"/>
          <p:nvPr/>
        </p:nvSpPr>
        <p:spPr>
          <a:xfrm>
            <a:off x="8055529" y="2126006"/>
            <a:ext cx="3722615" cy="3231654"/>
          </a:xfrm>
          <a:prstGeom prst="rect">
            <a:avLst/>
          </a:prstGeom>
          <a:noFill/>
        </p:spPr>
        <p:txBody>
          <a:bodyPr wrap="square">
            <a:spAutoFit/>
          </a:bodyPr>
          <a:lstStyle/>
          <a:p>
            <a:r>
              <a:rPr lang="en-IN" sz="2400" b="1" dirty="0">
                <a:solidFill>
                  <a:schemeClr val="accent2">
                    <a:lumMod val="75000"/>
                  </a:schemeClr>
                </a:solidFill>
                <a:latin typeface="Baskerville Old Face" panose="02020602080505020303" pitchFamily="18" charset="0"/>
              </a:rPr>
              <a:t>Insight-</a:t>
            </a:r>
          </a:p>
          <a:p>
            <a:r>
              <a:rPr lang="en-IN" sz="2000" dirty="0">
                <a:latin typeface="Baskerville Old Face" panose="02020602080505020303" pitchFamily="18" charset="0"/>
              </a:rPr>
              <a:t>The dataset includes three agricultural seasons (Kharif, Rabi, and Zaid), multiple crop types, and four irrigation methods. Kharif had the highest number of records, while Rice was the most frequently cultivated crop. Flood irrigation was the most commonly used irrigation method.</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592046" y="0"/>
            <a:ext cx="2981643" cy="830997"/>
          </a:xfrm>
        </p:spPr>
        <p:txBody>
          <a:bodyPr>
            <a:normAutofit/>
          </a:bodyPr>
          <a:lstStyle/>
          <a:p>
            <a:r>
              <a:rPr lang="en-GB" dirty="0">
                <a:solidFill>
                  <a:schemeClr val="accent2">
                    <a:lumMod val="75000"/>
                  </a:schemeClr>
                </a:solidFill>
                <a:latin typeface="Baskerville Old Face" panose="02020602080505020303" pitchFamily="18" charset="0"/>
              </a:rPr>
              <a:t>RESULTS </a:t>
            </a:r>
            <a:endParaRPr lang="en-IN" dirty="0">
              <a:solidFill>
                <a:schemeClr val="accent2">
                  <a:lumMod val="75000"/>
                </a:schemeClr>
              </a:solidFill>
              <a:latin typeface="Baskerville Old Face" panose="02020602080505020303"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0BD6008-C217-A681-6CE7-21E4D0959F05}"/>
              </a:ext>
            </a:extLst>
          </p:cNvPr>
          <p:cNvPicPr>
            <a:picLocks noChangeAspect="1"/>
          </p:cNvPicPr>
          <p:nvPr/>
        </p:nvPicPr>
        <p:blipFill>
          <a:blip r:embed="rId3"/>
          <a:stretch>
            <a:fillRect/>
          </a:stretch>
        </p:blipFill>
        <p:spPr>
          <a:xfrm>
            <a:off x="545940" y="925363"/>
            <a:ext cx="5799323" cy="2523281"/>
          </a:xfrm>
          <a:prstGeom prst="rect">
            <a:avLst/>
          </a:prstGeom>
        </p:spPr>
      </p:pic>
      <p:pic>
        <p:nvPicPr>
          <p:cNvPr id="12" name="Picture 11">
            <a:extLst>
              <a:ext uri="{FF2B5EF4-FFF2-40B4-BE49-F238E27FC236}">
                <a16:creationId xmlns:a16="http://schemas.microsoft.com/office/drawing/2014/main" id="{FB4B58A2-E786-1764-2657-7D6BB1E3C175}"/>
              </a:ext>
            </a:extLst>
          </p:cNvPr>
          <p:cNvPicPr>
            <a:picLocks noChangeAspect="1"/>
          </p:cNvPicPr>
          <p:nvPr/>
        </p:nvPicPr>
        <p:blipFill>
          <a:blip r:embed="rId4"/>
          <a:stretch>
            <a:fillRect/>
          </a:stretch>
        </p:blipFill>
        <p:spPr>
          <a:xfrm>
            <a:off x="592046" y="3727776"/>
            <a:ext cx="5877849" cy="2679758"/>
          </a:xfrm>
          <a:prstGeom prst="rect">
            <a:avLst/>
          </a:prstGeom>
        </p:spPr>
      </p:pic>
      <p:sp>
        <p:nvSpPr>
          <p:cNvPr id="14" name="TextBox 13">
            <a:extLst>
              <a:ext uri="{FF2B5EF4-FFF2-40B4-BE49-F238E27FC236}">
                <a16:creationId xmlns:a16="http://schemas.microsoft.com/office/drawing/2014/main" id="{90BC331F-D8CE-282B-30C9-2878688287A7}"/>
              </a:ext>
            </a:extLst>
          </p:cNvPr>
          <p:cNvSpPr txBox="1"/>
          <p:nvPr/>
        </p:nvSpPr>
        <p:spPr>
          <a:xfrm>
            <a:off x="6594527" y="2577450"/>
            <a:ext cx="4734733" cy="2616101"/>
          </a:xfrm>
          <a:prstGeom prst="rect">
            <a:avLst/>
          </a:prstGeom>
          <a:noFill/>
        </p:spPr>
        <p:txBody>
          <a:bodyPr wrap="square">
            <a:spAutoFit/>
          </a:bodyPr>
          <a:lstStyle/>
          <a:p>
            <a:r>
              <a:rPr lang="en-IN" sz="2400" b="1" dirty="0">
                <a:solidFill>
                  <a:schemeClr val="accent2">
                    <a:lumMod val="75000"/>
                  </a:schemeClr>
                </a:solidFill>
                <a:latin typeface="Baskerville Old Face" panose="02020602080505020303" pitchFamily="18" charset="0"/>
              </a:rPr>
              <a:t>Insight-</a:t>
            </a:r>
          </a:p>
          <a:p>
            <a:r>
              <a:rPr lang="en-IN" sz="2000" dirty="0">
                <a:latin typeface="Baskerville Old Face" panose="02020602080505020303" pitchFamily="18" charset="0"/>
              </a:rPr>
              <a:t>Agricultural performance varied significantly across seasons. Kharif recorded the highest average yield and profit, indicating favourable growing conditions. Rabi showed moderate performance, while Zaid recorded negative average profit, suggesting lower economic viability.</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558178" y="107118"/>
            <a:ext cx="2981643" cy="830997"/>
          </a:xfrm>
        </p:spPr>
        <p:txBody>
          <a:bodyPr>
            <a:normAutofit/>
          </a:bodyPr>
          <a:lstStyle/>
          <a:p>
            <a:r>
              <a:rPr lang="en-GB" dirty="0">
                <a:solidFill>
                  <a:schemeClr val="accent2">
                    <a:lumMod val="75000"/>
                  </a:schemeClr>
                </a:solidFill>
                <a:latin typeface="Baskerville Old Face" panose="02020602080505020303" pitchFamily="18" charset="0"/>
              </a:rPr>
              <a:t>RESULTS</a:t>
            </a:r>
            <a:r>
              <a:rPr lang="en-GB" dirty="0"/>
              <a:t>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8D98BE6-14DD-3604-EA61-53BDEF43D84C}"/>
              </a:ext>
            </a:extLst>
          </p:cNvPr>
          <p:cNvPicPr>
            <a:picLocks noChangeAspect="1"/>
          </p:cNvPicPr>
          <p:nvPr/>
        </p:nvPicPr>
        <p:blipFill>
          <a:blip r:embed="rId3"/>
          <a:stretch>
            <a:fillRect/>
          </a:stretch>
        </p:blipFill>
        <p:spPr>
          <a:xfrm>
            <a:off x="436686" y="997469"/>
            <a:ext cx="3764275" cy="2828900"/>
          </a:xfrm>
          <a:prstGeom prst="rect">
            <a:avLst/>
          </a:prstGeom>
        </p:spPr>
      </p:pic>
      <p:pic>
        <p:nvPicPr>
          <p:cNvPr id="12" name="Picture 11">
            <a:extLst>
              <a:ext uri="{FF2B5EF4-FFF2-40B4-BE49-F238E27FC236}">
                <a16:creationId xmlns:a16="http://schemas.microsoft.com/office/drawing/2014/main" id="{29489B63-9F36-D0A6-D02B-67E142DE4B2D}"/>
              </a:ext>
            </a:extLst>
          </p:cNvPr>
          <p:cNvPicPr>
            <a:picLocks noChangeAspect="1"/>
          </p:cNvPicPr>
          <p:nvPr/>
        </p:nvPicPr>
        <p:blipFill>
          <a:blip r:embed="rId4"/>
          <a:stretch>
            <a:fillRect/>
          </a:stretch>
        </p:blipFill>
        <p:spPr>
          <a:xfrm>
            <a:off x="4420206" y="997469"/>
            <a:ext cx="3343561" cy="2490885"/>
          </a:xfrm>
          <a:prstGeom prst="rect">
            <a:avLst/>
          </a:prstGeom>
        </p:spPr>
      </p:pic>
      <p:pic>
        <p:nvPicPr>
          <p:cNvPr id="14" name="Picture 13">
            <a:extLst>
              <a:ext uri="{FF2B5EF4-FFF2-40B4-BE49-F238E27FC236}">
                <a16:creationId xmlns:a16="http://schemas.microsoft.com/office/drawing/2014/main" id="{D0F647FD-7F62-5FA9-A1E7-F5F92F0A5CC2}"/>
              </a:ext>
            </a:extLst>
          </p:cNvPr>
          <p:cNvPicPr>
            <a:picLocks noChangeAspect="1"/>
          </p:cNvPicPr>
          <p:nvPr/>
        </p:nvPicPr>
        <p:blipFill>
          <a:blip r:embed="rId5"/>
          <a:stretch>
            <a:fillRect/>
          </a:stretch>
        </p:blipFill>
        <p:spPr>
          <a:xfrm>
            <a:off x="1555262" y="3766254"/>
            <a:ext cx="4837723" cy="2984627"/>
          </a:xfrm>
          <a:prstGeom prst="rect">
            <a:avLst/>
          </a:prstGeom>
        </p:spPr>
      </p:pic>
      <p:sp>
        <p:nvSpPr>
          <p:cNvPr id="17" name="TextBox 16">
            <a:extLst>
              <a:ext uri="{FF2B5EF4-FFF2-40B4-BE49-F238E27FC236}">
                <a16:creationId xmlns:a16="http://schemas.microsoft.com/office/drawing/2014/main" id="{2F5B4C7E-33C4-3E9C-F0B4-439E361EB694}"/>
              </a:ext>
            </a:extLst>
          </p:cNvPr>
          <p:cNvSpPr txBox="1"/>
          <p:nvPr/>
        </p:nvSpPr>
        <p:spPr>
          <a:xfrm>
            <a:off x="7838279" y="1564751"/>
            <a:ext cx="4032739" cy="3847207"/>
          </a:xfrm>
          <a:prstGeom prst="rect">
            <a:avLst/>
          </a:prstGeom>
          <a:noFill/>
        </p:spPr>
        <p:txBody>
          <a:bodyPr wrap="square">
            <a:spAutoFit/>
          </a:bodyPr>
          <a:lstStyle/>
          <a:p>
            <a:r>
              <a:rPr lang="en-IN" sz="2400" b="1" dirty="0">
                <a:solidFill>
                  <a:schemeClr val="accent2">
                    <a:lumMod val="75000"/>
                  </a:schemeClr>
                </a:solidFill>
                <a:latin typeface="Baskerville Old Face" panose="02020602080505020303" pitchFamily="18" charset="0"/>
              </a:rPr>
              <a:t>Insight-</a:t>
            </a:r>
          </a:p>
          <a:p>
            <a:r>
              <a:rPr lang="en-IN" sz="2000" dirty="0">
                <a:latin typeface="Baskerville Old Face" panose="02020602080505020303" pitchFamily="18" charset="0"/>
              </a:rPr>
              <a:t>Water-related factors played an important role in agricultural outcomes. Rainfall and soil moisture showed positive relationships with productivity. Rainfed and Drip irrigation methods demonstrated better water efficiency compared to Flood irrigation. The correlation analysis indicated that agricultural performance depends on multiple interacting factors.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solidFill>
                  <a:schemeClr val="accent2">
                    <a:lumMod val="75000"/>
                  </a:schemeClr>
                </a:solidFill>
                <a:latin typeface="Baskerville Old Face" panose="02020602080505020303" pitchFamily="18" charset="0"/>
              </a:rPr>
              <a:t>RESULTS </a:t>
            </a:r>
            <a:endParaRPr lang="en-IN" dirty="0">
              <a:solidFill>
                <a:schemeClr val="accent2">
                  <a:lumMod val="75000"/>
                </a:schemeClr>
              </a:solidFill>
              <a:latin typeface="Baskerville Old Face" panose="02020602080505020303"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407052BF-9474-FDE4-B2CA-206837ED91E9}"/>
              </a:ext>
            </a:extLst>
          </p:cNvPr>
          <p:cNvPicPr>
            <a:picLocks noChangeAspect="1"/>
          </p:cNvPicPr>
          <p:nvPr/>
        </p:nvPicPr>
        <p:blipFill>
          <a:blip r:embed="rId3"/>
          <a:stretch>
            <a:fillRect/>
          </a:stretch>
        </p:blipFill>
        <p:spPr>
          <a:xfrm>
            <a:off x="675957" y="1369425"/>
            <a:ext cx="4991202" cy="2308805"/>
          </a:xfrm>
          <a:prstGeom prst="rect">
            <a:avLst/>
          </a:prstGeom>
        </p:spPr>
      </p:pic>
      <p:pic>
        <p:nvPicPr>
          <p:cNvPr id="12" name="Picture 11">
            <a:extLst>
              <a:ext uri="{FF2B5EF4-FFF2-40B4-BE49-F238E27FC236}">
                <a16:creationId xmlns:a16="http://schemas.microsoft.com/office/drawing/2014/main" id="{E7FC6F05-CF01-73B7-F058-B93DB099148D}"/>
              </a:ext>
            </a:extLst>
          </p:cNvPr>
          <p:cNvPicPr>
            <a:picLocks noChangeAspect="1"/>
          </p:cNvPicPr>
          <p:nvPr/>
        </p:nvPicPr>
        <p:blipFill>
          <a:blip r:embed="rId4"/>
          <a:stretch>
            <a:fillRect/>
          </a:stretch>
        </p:blipFill>
        <p:spPr>
          <a:xfrm>
            <a:off x="675957" y="4178605"/>
            <a:ext cx="5084986" cy="2308806"/>
          </a:xfrm>
          <a:prstGeom prst="rect">
            <a:avLst/>
          </a:prstGeom>
        </p:spPr>
      </p:pic>
      <p:sp>
        <p:nvSpPr>
          <p:cNvPr id="14" name="TextBox 13">
            <a:extLst>
              <a:ext uri="{FF2B5EF4-FFF2-40B4-BE49-F238E27FC236}">
                <a16:creationId xmlns:a16="http://schemas.microsoft.com/office/drawing/2014/main" id="{A2559B3E-015B-D192-0174-2D0CD2870ABB}"/>
              </a:ext>
            </a:extLst>
          </p:cNvPr>
          <p:cNvSpPr txBox="1"/>
          <p:nvPr/>
        </p:nvSpPr>
        <p:spPr>
          <a:xfrm>
            <a:off x="6431059" y="2101354"/>
            <a:ext cx="3596080" cy="3231654"/>
          </a:xfrm>
          <a:prstGeom prst="rect">
            <a:avLst/>
          </a:prstGeom>
          <a:noFill/>
        </p:spPr>
        <p:txBody>
          <a:bodyPr wrap="square">
            <a:spAutoFit/>
          </a:bodyPr>
          <a:lstStyle/>
          <a:p>
            <a:r>
              <a:rPr lang="en-IN" sz="2400" b="1" dirty="0">
                <a:solidFill>
                  <a:schemeClr val="accent2">
                    <a:lumMod val="75000"/>
                  </a:schemeClr>
                </a:solidFill>
                <a:latin typeface="Baskerville Old Face" panose="02020602080505020303" pitchFamily="18" charset="0"/>
              </a:rPr>
              <a:t>Insight-</a:t>
            </a:r>
          </a:p>
          <a:p>
            <a:r>
              <a:rPr lang="en-IN" sz="2000" dirty="0">
                <a:latin typeface="Baskerville Old Face" panose="02020602080505020303" pitchFamily="18" charset="0"/>
              </a:rPr>
              <a:t>Agricultural performance varied across states. Punjab achieved the highest average yield (6.12 tonnes per hectare) and also generated the highest average profit. Karnataka and Gujarat also showed strong performance, while Andhra Pradesh recorded comparatively lower profitability.</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79DA-3438-4C5D-14F8-29E78E19716A}"/>
              </a:ext>
            </a:extLst>
          </p:cNvPr>
          <p:cNvSpPr>
            <a:spLocks noGrp="1"/>
          </p:cNvSpPr>
          <p:nvPr>
            <p:ph type="title"/>
          </p:nvPr>
        </p:nvSpPr>
        <p:spPr>
          <a:xfrm>
            <a:off x="677334" y="609600"/>
            <a:ext cx="8596668" cy="634314"/>
          </a:xfrm>
        </p:spPr>
        <p:txBody>
          <a:bodyPr>
            <a:noAutofit/>
          </a:bodyPr>
          <a:lstStyle/>
          <a:p>
            <a:r>
              <a:rPr lang="en-IN" sz="4800" dirty="0">
                <a:solidFill>
                  <a:schemeClr val="accent2">
                    <a:lumMod val="75000"/>
                  </a:schemeClr>
                </a:solidFill>
                <a:latin typeface="Baskerville Old Face" panose="02020602080505020303" pitchFamily="18" charset="0"/>
              </a:rPr>
              <a:t>Conclusion  </a:t>
            </a:r>
            <a:r>
              <a:rPr lang="en-IN" sz="4000" dirty="0"/>
              <a:t>                </a:t>
            </a:r>
            <a:r>
              <a:rPr lang="en-IN" sz="4400" dirty="0">
                <a:solidFill>
                  <a:schemeClr val="accent2">
                    <a:lumMod val="75000"/>
                  </a:schemeClr>
                </a:solidFill>
                <a:latin typeface="Baskerville Old Face" panose="02020602080505020303" pitchFamily="18" charset="0"/>
              </a:rPr>
              <a:t>Key Results</a:t>
            </a:r>
            <a:endParaRPr lang="en-IN" sz="4000" dirty="0">
              <a:solidFill>
                <a:schemeClr val="accent2">
                  <a:lumMod val="75000"/>
                </a:schemeClr>
              </a:solidFill>
              <a:latin typeface="Baskerville Old Face" panose="02020602080505020303" pitchFamily="18" charset="0"/>
            </a:endParaRPr>
          </a:p>
        </p:txBody>
      </p:sp>
      <p:sp>
        <p:nvSpPr>
          <p:cNvPr id="3" name="Content Placeholder 2">
            <a:extLst>
              <a:ext uri="{FF2B5EF4-FFF2-40B4-BE49-F238E27FC236}">
                <a16:creationId xmlns:a16="http://schemas.microsoft.com/office/drawing/2014/main" id="{CB9AE9FB-E827-3886-0F3F-2550BC2BE38F}"/>
              </a:ext>
            </a:extLst>
          </p:cNvPr>
          <p:cNvSpPr>
            <a:spLocks noGrp="1"/>
          </p:cNvSpPr>
          <p:nvPr>
            <p:ph sz="half" idx="1"/>
          </p:nvPr>
        </p:nvSpPr>
        <p:spPr>
          <a:xfrm>
            <a:off x="677334" y="1682794"/>
            <a:ext cx="4184035" cy="4565605"/>
          </a:xfrm>
        </p:spPr>
        <p:txBody>
          <a:bodyPr>
            <a:normAutofit lnSpcReduction="10000"/>
          </a:bodyPr>
          <a:lstStyle/>
          <a:p>
            <a:r>
              <a:rPr lang="en-US" sz="1600" dirty="0">
                <a:latin typeface="Baskerville Old Face" panose="02020602080505020303" pitchFamily="18" charset="0"/>
              </a:rPr>
              <a:t>Seasonal variations significantly affect agricultural productivity and profitability.</a:t>
            </a:r>
          </a:p>
          <a:p>
            <a:r>
              <a:rPr lang="en-US" sz="1600" dirty="0">
                <a:latin typeface="Baskerville Old Face" panose="02020602080505020303" pitchFamily="18" charset="0"/>
              </a:rPr>
              <a:t>Kharif emerged as the best-performing season in terms of yield and profit.</a:t>
            </a:r>
          </a:p>
          <a:p>
            <a:r>
              <a:rPr lang="en-US" sz="1600" dirty="0">
                <a:latin typeface="Baskerville Old Face" panose="02020602080505020303" pitchFamily="18" charset="0"/>
              </a:rPr>
              <a:t>Water-related factors such as rainfall and soil moisture play an important role in agricultural outcomes.</a:t>
            </a:r>
          </a:p>
          <a:p>
            <a:r>
              <a:rPr lang="en-US" sz="1600" dirty="0">
                <a:latin typeface="Baskerville Old Face" panose="02020602080505020303" pitchFamily="18" charset="0"/>
              </a:rPr>
              <a:t>Efficient irrigation methods can improve water utilization and support sustainable farming.</a:t>
            </a:r>
          </a:p>
          <a:p>
            <a:r>
              <a:rPr lang="en-US" sz="1600" dirty="0">
                <a:latin typeface="Baskerville Old Face" panose="02020602080505020303" pitchFamily="18" charset="0"/>
              </a:rPr>
              <a:t>Regional differences exist, with Punjab demonstrating the strongest agricultural performance.</a:t>
            </a:r>
          </a:p>
          <a:p>
            <a:r>
              <a:rPr lang="en-US" sz="1600" dirty="0">
                <a:latin typeface="Baskerville Old Face" panose="02020602080505020303" pitchFamily="18" charset="0"/>
              </a:rPr>
              <a:t>Data analytics helps identify meaningful agricultural patterns and supports informed decision-making.</a:t>
            </a:r>
            <a:endParaRPr lang="en-IN" sz="1600" dirty="0">
              <a:latin typeface="Baskerville Old Face" panose="02020602080505020303" pitchFamily="18" charset="0"/>
            </a:endParaRPr>
          </a:p>
        </p:txBody>
      </p:sp>
      <p:sp>
        <p:nvSpPr>
          <p:cNvPr id="4" name="Content Placeholder 3">
            <a:extLst>
              <a:ext uri="{FF2B5EF4-FFF2-40B4-BE49-F238E27FC236}">
                <a16:creationId xmlns:a16="http://schemas.microsoft.com/office/drawing/2014/main" id="{EE632EEE-1722-E212-59CC-88BE363AB1A3}"/>
              </a:ext>
            </a:extLst>
          </p:cNvPr>
          <p:cNvSpPr>
            <a:spLocks noGrp="1"/>
          </p:cNvSpPr>
          <p:nvPr>
            <p:ph sz="half" idx="2"/>
          </p:nvPr>
        </p:nvSpPr>
        <p:spPr>
          <a:xfrm>
            <a:off x="5215803" y="1682794"/>
            <a:ext cx="5312379" cy="4358568"/>
          </a:xfrm>
        </p:spPr>
        <p:txBody>
          <a:bodyPr>
            <a:normAutofit lnSpcReduction="10000"/>
          </a:bodyPr>
          <a:lstStyle/>
          <a:p>
            <a:r>
              <a:rPr lang="en-US" sz="1600" dirty="0">
                <a:latin typeface="Baskerville Old Face" panose="02020602080505020303" pitchFamily="18" charset="0"/>
              </a:rPr>
              <a:t>Kharif season recorded the highest average yield and profit.</a:t>
            </a:r>
          </a:p>
          <a:p>
            <a:r>
              <a:rPr lang="en-US" sz="1600" dirty="0">
                <a:latin typeface="Baskerville Old Face" panose="02020602080505020303" pitchFamily="18" charset="0"/>
              </a:rPr>
              <a:t>Average profit during Kharif was ₹178,914.65.</a:t>
            </a:r>
          </a:p>
          <a:p>
            <a:r>
              <a:rPr lang="en-US" sz="1600" dirty="0">
                <a:latin typeface="Baskerville Old Face" panose="02020602080505020303" pitchFamily="18" charset="0"/>
              </a:rPr>
              <a:t>Zaid season showed negative average profit (-₹24,804.82).</a:t>
            </a:r>
          </a:p>
          <a:p>
            <a:r>
              <a:rPr lang="en-US" sz="1600" dirty="0">
                <a:latin typeface="Baskerville Old Face" panose="02020602080505020303" pitchFamily="18" charset="0"/>
              </a:rPr>
              <a:t>Rainfed irrigation achieved the highest water efficiency.</a:t>
            </a:r>
          </a:p>
          <a:p>
            <a:r>
              <a:rPr lang="en-US" sz="1600" dirty="0">
                <a:latin typeface="Baskerville Old Face" panose="02020602080505020303" pitchFamily="18" charset="0"/>
              </a:rPr>
              <a:t>Yield and Profit showed a moderate positive correlation (0.49).</a:t>
            </a:r>
          </a:p>
          <a:p>
            <a:r>
              <a:rPr lang="en-US" sz="1600" dirty="0">
                <a:latin typeface="Baskerville Old Face" panose="02020602080505020303" pitchFamily="18" charset="0"/>
              </a:rPr>
              <a:t>Punjab recorded the highest average yield (6.12 </a:t>
            </a:r>
            <a:r>
              <a:rPr lang="en-US" sz="1600" dirty="0" err="1">
                <a:latin typeface="Baskerville Old Face" panose="02020602080505020303" pitchFamily="18" charset="0"/>
              </a:rPr>
              <a:t>tonnes</a:t>
            </a:r>
            <a:r>
              <a:rPr lang="en-US" sz="1600" dirty="0">
                <a:latin typeface="Baskerville Old Face" panose="02020602080505020303" pitchFamily="18" charset="0"/>
              </a:rPr>
              <a:t>/hectare).</a:t>
            </a:r>
          </a:p>
          <a:p>
            <a:r>
              <a:rPr lang="en-US" sz="1600" dirty="0">
                <a:latin typeface="Baskerville Old Face" panose="02020602080505020303" pitchFamily="18" charset="0"/>
              </a:rPr>
              <a:t>Punjab also generated the highest average profit among all states.</a:t>
            </a:r>
          </a:p>
          <a:p>
            <a:r>
              <a:rPr lang="en-US" sz="1600" dirty="0">
                <a:latin typeface="Baskerville Old Face" panose="02020602080505020303" pitchFamily="18" charset="0"/>
              </a:rPr>
              <a:t>Rainfall and soil moisture were important environmental factors influencing agricultural performance.</a:t>
            </a:r>
            <a:endParaRPr lang="en-IN" sz="1600" dirty="0">
              <a:latin typeface="Baskerville Old Face" panose="02020602080505020303" pitchFamily="18" charset="0"/>
            </a:endParaRPr>
          </a:p>
        </p:txBody>
      </p:sp>
      <p:sp>
        <p:nvSpPr>
          <p:cNvPr id="5" name="Slide Number Placeholder 4">
            <a:extLst>
              <a:ext uri="{FF2B5EF4-FFF2-40B4-BE49-F238E27FC236}">
                <a16:creationId xmlns:a16="http://schemas.microsoft.com/office/drawing/2014/main" id="{E91AC907-92F5-7F4C-EF37-E64C0F983BAA}"/>
              </a:ext>
            </a:extLst>
          </p:cNvPr>
          <p:cNvSpPr>
            <a:spLocks noGrp="1"/>
          </p:cNvSpPr>
          <p:nvPr>
            <p:ph type="sldNum" sz="quarter" idx="12"/>
          </p:nvPr>
        </p:nvSpPr>
        <p:spPr/>
        <p:txBody>
          <a:bodyPr/>
          <a:lstStyle/>
          <a:p>
            <a:fld id="{6FF9F0C5-380F-41C2-899A-BAC0F0927E16}" type="slidenum">
              <a:rPr lang="en-US" smtClean="0"/>
              <a:t>11</a:t>
            </a:fld>
            <a:endParaRPr lang="en-US" dirty="0"/>
          </a:p>
        </p:txBody>
      </p:sp>
    </p:spTree>
    <p:extLst>
      <p:ext uri="{BB962C8B-B14F-4D97-AF65-F5344CB8AC3E}">
        <p14:creationId xmlns:p14="http://schemas.microsoft.com/office/powerpoint/2010/main" val="4052436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444374"/>
            <a:ext cx="4735798" cy="830997"/>
          </a:xfrm>
        </p:spPr>
        <p:txBody>
          <a:bodyPr>
            <a:noAutofit/>
          </a:bodyPr>
          <a:lstStyle/>
          <a:p>
            <a:r>
              <a:rPr lang="en-IN" sz="5400" dirty="0">
                <a:solidFill>
                  <a:schemeClr val="accent2">
                    <a:lumMod val="75000"/>
                  </a:schemeClr>
                </a:solidFill>
                <a:latin typeface="Baskerville Old Face" panose="02020602080505020303"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00259A0D-8BD7-315C-57C5-2BD66132ABF2}"/>
              </a:ext>
            </a:extLst>
          </p:cNvPr>
          <p:cNvSpPr txBox="1"/>
          <p:nvPr/>
        </p:nvSpPr>
        <p:spPr>
          <a:xfrm>
            <a:off x="675957" y="1801669"/>
            <a:ext cx="6100118" cy="3477875"/>
          </a:xfrm>
          <a:prstGeom prst="rect">
            <a:avLst/>
          </a:prstGeom>
          <a:noFill/>
        </p:spPr>
        <p:txBody>
          <a:bodyPr wrap="square">
            <a:spAutoFit/>
          </a:bodyPr>
          <a:lstStyle/>
          <a:p>
            <a:r>
              <a:rPr lang="en-IN" sz="2000" dirty="0">
                <a:latin typeface="Baskerville Old Face" panose="02020602080505020303" pitchFamily="18" charset="0"/>
              </a:rPr>
              <a:t>• Include data from additional states and crops.</a:t>
            </a:r>
          </a:p>
          <a:p>
            <a:endParaRPr lang="en-IN" sz="2000" dirty="0">
              <a:latin typeface="Baskerville Old Face" panose="02020602080505020303" pitchFamily="18" charset="0"/>
            </a:endParaRPr>
          </a:p>
          <a:p>
            <a:r>
              <a:rPr lang="en-IN" sz="2000" dirty="0">
                <a:latin typeface="Baskerville Old Face" panose="02020602080505020303" pitchFamily="18" charset="0"/>
              </a:rPr>
              <a:t>• Analyse long-term agricultural trends.</a:t>
            </a:r>
          </a:p>
          <a:p>
            <a:endParaRPr lang="en-IN" sz="2000" dirty="0">
              <a:latin typeface="Baskerville Old Face" panose="02020602080505020303" pitchFamily="18" charset="0"/>
            </a:endParaRPr>
          </a:p>
          <a:p>
            <a:r>
              <a:rPr lang="en-IN" sz="2000" dirty="0">
                <a:latin typeface="Baskerville Old Face" panose="02020602080505020303" pitchFamily="18" charset="0"/>
              </a:rPr>
              <a:t>• Develop interactive dashboards for visualization.</a:t>
            </a:r>
          </a:p>
          <a:p>
            <a:endParaRPr lang="en-IN" sz="2000" dirty="0">
              <a:latin typeface="Baskerville Old Face" panose="02020602080505020303" pitchFamily="18" charset="0"/>
            </a:endParaRPr>
          </a:p>
          <a:p>
            <a:r>
              <a:rPr lang="en-IN" sz="2000" dirty="0">
                <a:latin typeface="Baskerville Old Face" panose="02020602080505020303" pitchFamily="18" charset="0"/>
              </a:rPr>
              <a:t>• Integrate real-time weather information.</a:t>
            </a:r>
          </a:p>
          <a:p>
            <a:endParaRPr lang="en-IN" sz="2000" dirty="0">
              <a:latin typeface="Baskerville Old Face" panose="02020602080505020303" pitchFamily="18" charset="0"/>
            </a:endParaRPr>
          </a:p>
          <a:p>
            <a:r>
              <a:rPr lang="en-IN" sz="2000" dirty="0">
                <a:latin typeface="Baskerville Old Face" panose="02020602080505020303" pitchFamily="18" charset="0"/>
              </a:rPr>
              <a:t>• Apply Machine Learning models for yield prediction.</a:t>
            </a:r>
          </a:p>
          <a:p>
            <a:endParaRPr lang="en-IN" sz="2000" dirty="0">
              <a:latin typeface="Baskerville Old Face" panose="02020602080505020303" pitchFamily="18" charset="0"/>
            </a:endParaRPr>
          </a:p>
          <a:p>
            <a:r>
              <a:rPr lang="en-IN" sz="2000" dirty="0">
                <a:latin typeface="Baskerville Old Face" panose="02020602080505020303" pitchFamily="18" charset="0"/>
              </a:rPr>
              <a:t>• Build decision-support systems for farmers.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1278806" y="761098"/>
            <a:ext cx="6133776" cy="665771"/>
          </a:xfrm>
        </p:spPr>
        <p:txBody>
          <a:bodyPr>
            <a:normAutofit fontScale="90000"/>
          </a:bodyPr>
          <a:lstStyle/>
          <a:p>
            <a:r>
              <a:rPr lang="en-IN" sz="4400" dirty="0">
                <a:solidFill>
                  <a:schemeClr val="accent2">
                    <a:lumMod val="75000"/>
                  </a:schemeClr>
                </a:solidFill>
                <a:latin typeface="Baskerville Old Face" panose="02020602080505020303" pitchFamily="18" charset="0"/>
              </a:rPr>
              <a:t>GitHub Link-</a:t>
            </a:r>
          </a:p>
        </p:txBody>
      </p:sp>
      <p:sp>
        <p:nvSpPr>
          <p:cNvPr id="3" name="Text Placeholder 2">
            <a:extLst>
              <a:ext uri="{FF2B5EF4-FFF2-40B4-BE49-F238E27FC236}">
                <a16:creationId xmlns:a16="http://schemas.microsoft.com/office/drawing/2014/main" id="{17996BF1-8FAA-4BC3-DF2C-E42B246CD0CF}"/>
              </a:ext>
            </a:extLst>
          </p:cNvPr>
          <p:cNvSpPr>
            <a:spLocks noGrp="1"/>
          </p:cNvSpPr>
          <p:nvPr>
            <p:ph type="body" sz="quarter" idx="13"/>
          </p:nvPr>
        </p:nvSpPr>
        <p:spPr>
          <a:xfrm>
            <a:off x="1278806" y="1687004"/>
            <a:ext cx="7607105" cy="665770"/>
          </a:xfrm>
        </p:spPr>
        <p:txBody>
          <a:bodyPr/>
          <a:lstStyle/>
          <a:p>
            <a:r>
              <a:rPr lang="en-IN" sz="1800" dirty="0"/>
              <a:t>https://github.com/shreeyagupta2105-png/Seasonal-Agriculture-Performance-Analysis</a:t>
            </a:r>
          </a:p>
        </p:txBody>
      </p:sp>
      <p:sp>
        <p:nvSpPr>
          <p:cNvPr id="2" name="Text Placeholder 1">
            <a:extLst>
              <a:ext uri="{FF2B5EF4-FFF2-40B4-BE49-F238E27FC236}">
                <a16:creationId xmlns:a16="http://schemas.microsoft.com/office/drawing/2014/main" id="{C7F16580-C0D6-58E9-55DF-6DF5C98F8428}"/>
              </a:ext>
            </a:extLst>
          </p:cNvPr>
          <p:cNvSpPr>
            <a:spLocks noGrp="1"/>
          </p:cNvSpPr>
          <p:nvPr>
            <p:ph type="body" idx="1"/>
          </p:nvPr>
        </p:nvSpPr>
        <p:spPr>
          <a:xfrm>
            <a:off x="1278806" y="2741547"/>
            <a:ext cx="8596668" cy="785481"/>
          </a:xfrm>
        </p:spPr>
        <p:txBody>
          <a:bodyPr/>
          <a:lstStyle/>
          <a:p>
            <a:r>
              <a:rPr lang="en-IN" sz="4000" dirty="0">
                <a:solidFill>
                  <a:schemeClr val="accent2">
                    <a:lumMod val="75000"/>
                  </a:schemeClr>
                </a:solidFill>
                <a:latin typeface="Baskerville Old Face" panose="02020602080505020303" pitchFamily="18" charset="0"/>
              </a:rPr>
              <a:t>Jupyter Notebook link -  </a:t>
            </a:r>
            <a:r>
              <a:rPr lang="en-IN" sz="3200" dirty="0">
                <a:hlinkClick r:id="rId3" action="ppaction://hlinkfile"/>
              </a:rPr>
              <a:t>Here</a:t>
            </a:r>
            <a:endParaRPr lang="en-IN" dirty="0"/>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2473062" y="25149"/>
            <a:ext cx="7088824" cy="1016667"/>
          </a:xfrm>
        </p:spPr>
        <p:txBody>
          <a:bodyPr>
            <a:noAutofit/>
          </a:bodyPr>
          <a:lstStyle/>
          <a:p>
            <a:r>
              <a:rPr lang="en-IN" sz="3200" dirty="0">
                <a:solidFill>
                  <a:schemeClr val="accent2">
                    <a:lumMod val="75000"/>
                  </a:schemeClr>
                </a:solidFill>
                <a:latin typeface="Baskerville Old Face" panose="02020602080505020303" pitchFamily="18" charset="0"/>
              </a:rPr>
              <a:t>VOIS Course completion certificate - </a:t>
            </a:r>
            <a:br>
              <a:rPr lang="en-IN" sz="3200" dirty="0">
                <a:solidFill>
                  <a:schemeClr val="accent2">
                    <a:lumMod val="75000"/>
                  </a:schemeClr>
                </a:solidFill>
                <a:latin typeface="Baskerville Old Face" panose="02020602080505020303" pitchFamily="18" charset="0"/>
              </a:rPr>
            </a:br>
            <a:r>
              <a:rPr lang="en-IN" sz="3200" dirty="0">
                <a:solidFill>
                  <a:schemeClr val="accent2">
                    <a:lumMod val="75000"/>
                  </a:schemeClr>
                </a:solidFill>
                <a:latin typeface="Baskerville Old Face" panose="02020602080505020303" pitchFamily="18" charset="0"/>
              </a:rPr>
              <a:t>Course name- </a:t>
            </a:r>
            <a:r>
              <a:rPr lang="en-IN" sz="3200" dirty="0">
                <a:solidFill>
                  <a:schemeClr val="accent3">
                    <a:lumMod val="75000"/>
                  </a:schemeClr>
                </a:solidFill>
                <a:latin typeface="Baskerville Old Face" panose="02020602080505020303" pitchFamily="18" charset="0"/>
              </a:rPr>
              <a:t>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3" name="Picture 12">
            <a:extLst>
              <a:ext uri="{FF2B5EF4-FFF2-40B4-BE49-F238E27FC236}">
                <a16:creationId xmlns:a16="http://schemas.microsoft.com/office/drawing/2014/main" id="{E9208E1C-1874-ACBF-B703-8B38A6A587B1}"/>
              </a:ext>
            </a:extLst>
          </p:cNvPr>
          <p:cNvPicPr>
            <a:picLocks noChangeAspect="1"/>
          </p:cNvPicPr>
          <p:nvPr/>
        </p:nvPicPr>
        <p:blipFill>
          <a:blip r:embed="rId3"/>
          <a:stretch>
            <a:fillRect/>
          </a:stretch>
        </p:blipFill>
        <p:spPr>
          <a:xfrm>
            <a:off x="1402080" y="1224280"/>
            <a:ext cx="9638358" cy="537210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2008819" y="737852"/>
            <a:ext cx="8174361" cy="1431651"/>
          </a:xfrm>
          <a:prstGeom prst="rect">
            <a:avLst/>
          </a:prstGeom>
        </p:spPr>
        <p:txBody>
          <a:bodyPr anchor="ctr">
            <a:normAutofit/>
          </a:bodyPr>
          <a:lstStyle/>
          <a:p>
            <a:pPr algn="ctr"/>
            <a:r>
              <a:rPr lang="en-US" sz="5400" b="1" dirty="0">
                <a:solidFill>
                  <a:schemeClr val="accent2">
                    <a:lumMod val="75000"/>
                  </a:schemeClr>
                </a:solidFill>
                <a:latin typeface="Cooper Black" panose="0208090404030B0204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3245370" y="2676649"/>
            <a:ext cx="5943600" cy="1458130"/>
          </a:xfrm>
        </p:spPr>
        <p:txBody>
          <a:bodyPr>
            <a:normAutofit/>
          </a:bodyPr>
          <a:lstStyle/>
          <a:p>
            <a:r>
              <a:rPr lang="en-IN" sz="3000" dirty="0">
                <a:latin typeface="Bahnschrift SemiLight" panose="020B0502040204020203" pitchFamily="34" charset="0"/>
              </a:rPr>
              <a:t>“Turning data into insights and insights into better decisions.”</a:t>
            </a:r>
            <a:endParaRPr lang="en-IN" dirty="0">
              <a:latin typeface="Bahnschrift SemiLight" panose="020B0502040204020203" pitchFamily="34" charset="0"/>
            </a:endParaRP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642</TotalTime>
  <Words>690</Words>
  <Application>Microsoft Office PowerPoint</Application>
  <PresentationFormat>Widescreen</PresentationFormat>
  <Paragraphs>83</Paragraphs>
  <Slides>15</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Algerian</vt:lpstr>
      <vt:lpstr>Arial</vt:lpstr>
      <vt:lpstr>Arial Rounded MT Bold</vt:lpstr>
      <vt:lpstr>Bahnschrift SemiLight</vt:lpstr>
      <vt:lpstr>Baskerville Old Face</vt:lpstr>
      <vt:lpstr>Calibri</vt:lpstr>
      <vt:lpstr>Cooper Black</vt:lpstr>
      <vt:lpstr>Trebuchet MS</vt:lpstr>
      <vt:lpstr>Wingdings</vt:lpstr>
      <vt:lpstr>Wingdings 3</vt:lpstr>
      <vt:lpstr>Facet</vt:lpstr>
      <vt:lpstr>Project Title – Seasonal Agriculture Performance Analysis</vt:lpstr>
      <vt:lpstr>PROBLEM  STATEMENT</vt:lpstr>
      <vt:lpstr>Project Description  This project focuses on analyzing agricultural activities across different seasons using Data Analytics techniques.  The dataset contains information related to crops, environmental conditions, irrigation methods, production, costs, revenue, and profitability.  The analysis was performed using Python and various data visualization techniques to identify seasonal patterns and generate meaningful insights.</vt:lpstr>
      <vt:lpstr>WHO ARE THE END USERS?</vt:lpstr>
      <vt:lpstr>Technology Used</vt:lpstr>
      <vt:lpstr>RESULTS </vt:lpstr>
      <vt:lpstr>RESULTS </vt:lpstr>
      <vt:lpstr>RESULTS </vt:lpstr>
      <vt:lpstr>RESULTS </vt:lpstr>
      <vt:lpstr>RESULTS </vt:lpstr>
      <vt:lpstr>Conclusion                  Key Results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Subarna Gupta</cp:lastModifiedBy>
  <cp:revision>98</cp:revision>
  <dcterms:created xsi:type="dcterms:W3CDTF">2021-07-11T13:13:15Z</dcterms:created>
  <dcterms:modified xsi:type="dcterms:W3CDTF">2026-09-04T19:50:09Z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